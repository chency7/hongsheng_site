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349" r:id="rId3"/>
    <p:sldId id="350" r:id="rId4"/>
    <p:sldId id="351" r:id="rId5"/>
  </p:sldIdLst>
  <p:sldSz cx="12192000" cy="6858000"/>
  <p:notesSz cx="6858000" cy="9144000"/>
  <p:custDataLst>
    <p:tags r:id="rId8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纲 董" initials="纲董" lastIdx="1" clrIdx="0">
    <p:extLst>
      <p:ext uri="{19B8F6BF-5375-455C-9EA6-DF929625EA0E}">
        <p15:presenceInfo xmlns:p15="http://schemas.microsoft.com/office/powerpoint/2012/main" userId="0e3d17970400fc5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0000"/>
    <a:srgbClr val="18AD0D"/>
    <a:srgbClr val="269438"/>
    <a:srgbClr val="00B651"/>
    <a:srgbClr val="1DC468"/>
    <a:srgbClr val="769B9B"/>
    <a:srgbClr val="0A7ED1"/>
    <a:srgbClr val="64AF34"/>
    <a:srgbClr val="2B89D5"/>
    <a:srgbClr val="0D7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616" y="40"/>
      </p:cViewPr>
      <p:guideLst>
        <p:guide orient="horz" pos="227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2026-01-13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2026-01-13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r>
              <a:rPr lang="zh-CN" altLang="en-US">
                <a:latin typeface="Arial" panose="020B0604020202020204" pitchFamily="34" charset="0"/>
              </a:rPr>
              <a:t>-1</a:t>
            </a: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sldNum="0" hd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415240" y="542203"/>
            <a:ext cx="9194165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zh-CN" altLang="en-US" sz="1200" b="1" spc="130" dirty="0">
              <a:latin typeface="微软雅黑" panose="020B0503020204020204" charset="-122"/>
              <a:ea typeface="微软雅黑" panose="020B0503020204020204" charset="-122"/>
              <a:cs typeface="幼圆" panose="02010509060101010101" charset="-122"/>
              <a:sym typeface="+mn-ea"/>
            </a:endParaRPr>
          </a:p>
          <a:p>
            <a:pPr indent="635" algn="ctr">
              <a:spcAft>
                <a:spcPts val="0"/>
              </a:spcAft>
            </a:pPr>
            <a:r>
              <a:rPr lang="zh-CN" altLang="en-US" b="1" u="sng" kern="100" dirty="0">
                <a:solidFill>
                  <a:srgbClr val="00206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动臂塔式起重机液压系统解决方案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31EDEBE-1ACC-CB65-90A1-313F3CFAD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7" y="1227917"/>
            <a:ext cx="4248473" cy="401315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7FD1B6-6E3B-38FD-FAAB-DEA0C86F8CA5}"/>
              </a:ext>
            </a:extLst>
          </p:cNvPr>
          <p:cNvSpPr txBox="1"/>
          <p:nvPr/>
        </p:nvSpPr>
        <p:spPr>
          <a:xfrm>
            <a:off x="7572163" y="5252036"/>
            <a:ext cx="2880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  长沙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71F79E-0033-9965-5D37-06BD2F66F0C4}"/>
              </a:ext>
            </a:extLst>
          </p:cNvPr>
          <p:cNvSpPr txBox="1"/>
          <p:nvPr/>
        </p:nvSpPr>
        <p:spPr>
          <a:xfrm>
            <a:off x="5987987" y="5601553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湖南协力鸿胜机械有限公司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B6C7FD6-E055-AA05-1E84-26F31559D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41" y="188640"/>
            <a:ext cx="5148574" cy="6251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11362055" y="6626225"/>
            <a:ext cx="668655" cy="200025"/>
          </a:xfrm>
        </p:spPr>
        <p:txBody>
          <a:bodyPr/>
          <a:lstStyle/>
          <a:p>
            <a:pPr lvl="0" algn="ctr"/>
            <a:r>
              <a:rPr lang="zh-CN" altLang="en-US" sz="900">
                <a:latin typeface="+mj-lt"/>
                <a:cs typeface="+mj-lt"/>
              </a:rPr>
              <a:t>-</a:t>
            </a:r>
            <a:r>
              <a:rPr lang="en-US" altLang="zh-CN" sz="900">
                <a:latin typeface="+mj-lt"/>
                <a:cs typeface="+mj-lt"/>
              </a:rPr>
              <a:t> 2 </a:t>
            </a:r>
            <a:r>
              <a:rPr lang="zh-CN" altLang="en-US" sz="900">
                <a:latin typeface="+mj-lt"/>
                <a:cs typeface="+mj-lt"/>
              </a:rPr>
              <a:t>-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5A0831-5E0D-4E20-0637-4B6C363F6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" y="122617"/>
            <a:ext cx="5718686" cy="64807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D09D1CA-9485-6D6A-88FA-B179C16C5E8C}"/>
              </a:ext>
            </a:extLst>
          </p:cNvPr>
          <p:cNvSpPr txBox="1"/>
          <p:nvPr/>
        </p:nvSpPr>
        <p:spPr>
          <a:xfrm>
            <a:off x="6312024" y="188640"/>
            <a:ext cx="5718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行业介绍：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着近年新型建筑构件重量的不断增加，传统塔式起重机越来越难以满足吊装的需求。特殊设计的大起重量、大起升高度、大起升速度的变幅动臂塔机应运而生。现已逐步开始占领市场，成为新一代的建筑吊装神器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95EFB57-44EC-C82A-A4D3-30DB2200D210}"/>
              </a:ext>
            </a:extLst>
          </p:cNvPr>
          <p:cNvSpPr txBox="1"/>
          <p:nvPr/>
        </p:nvSpPr>
        <p:spPr>
          <a:xfrm>
            <a:off x="6312024" y="1196752"/>
            <a:ext cx="571868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动臂塔机特点：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、空间利用率高：采用俯仰变幅，通过改变臂架仰角调整幅度。变幅范围较小（通常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15°–85°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），能充分发挥臂架有效高度，起升高度更高。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‌‌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、起重能力突出：最大起重量通常为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32-100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吨，超大的起重力矩可以更高效的完成重型构件的吊装任务；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、起升高度高且适应性强：配备爬升系统（如内爬或外爬），可随建筑物升高而提升作业高度，独立安装高度可达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米，附着后超过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米，适用于超高层建筑；吊臂起伏角度范围大（如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17°-83°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），工作范围接近半球体，便于吊装主体结构上的高耸构件。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、运行效率高：采用大功率起升机构带负荷起升速度超过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分钟，结合变幅补偿技术，吊装操作更精准、便捷，缩短施工周期。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、安装灵活‌：吊臂安装幅度范围大，可根据工程需求调整臂长（如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30-65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米），适应不同阶段的吊装任务；轻量化臂架设计进一步提升了作业灵活性。‌</a:t>
            </a:r>
            <a:b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‌</a:t>
            </a:r>
            <a:br>
              <a:rPr lang="zh-CN" altLang="en-US" dirty="0"/>
            </a:b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BBB18B-0E06-8E34-7D91-3B47113B5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24" y="3717032"/>
            <a:ext cx="5718686" cy="2366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136B71A-C9A4-C90E-CB80-0B2CB1039BD7}"/>
              </a:ext>
            </a:extLst>
          </p:cNvPr>
          <p:cNvSpPr txBox="1"/>
          <p:nvPr/>
        </p:nvSpPr>
        <p:spPr>
          <a:xfrm>
            <a:off x="551384" y="548680"/>
            <a:ext cx="5184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动臂塔机液压系统解决方案特点：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、针对动臂塔机进行优化设计，包含液压系统、液压油缸及电控系统（选配），一站式完美实现动臂塔机各项功能；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年专业液压油缸制造厂家，三一中联徐工核心供应商，深耕起重机油缸多年，完全可满足所有塔机需求；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、拥有一批行业资深技术专家，可提供定制化的专业解决方案；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AA7A0D-91F0-B152-D994-4E0B0DDA2B1B}"/>
              </a:ext>
            </a:extLst>
          </p:cNvPr>
          <p:cNvSpPr txBox="1"/>
          <p:nvPr/>
        </p:nvSpPr>
        <p:spPr>
          <a:xfrm>
            <a:off x="6456040" y="476672"/>
            <a:ext cx="51845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核心优势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、高效节能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智能动力匹配：可根据负载自动调节输出功率，降低能耗；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高效液压系统：采用低噪音齿轮泵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柱塞泵，总效率达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92%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以上；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热管理系统优化：减少空载发热，延长元件寿命；</a:t>
            </a: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、稳定可靠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进口核心部件：关键液压件采用力士乐、丹佛斯等国际知名品牌，耐久性提升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抗震抗冲击设计：可适应工地频繁启停与振动环境；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多重安全保护：具备压力切断、过载保护、温度监控等功能；</a:t>
            </a: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精准控制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比例阀控制技术：变幅动作平稳无冲击，定位精度达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±0.5°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响应速度快：系统压力建立时间＜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秒；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自适应调节：自动补偿油温、粘度变化对控制性能的影响；</a:t>
            </a: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、维护便捷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模块化设计：泵、阀、油箱形成独立模块，故障排查高效便捷；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外置滤芯：无需放油即可更换滤清器；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智能诊断接口：支持远程故障预警与数据分析（选配）；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、高性价比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方案定制：可根据客户需求量身定制，节约客户大量宝贵时间；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高效稳定：全系统解决方案，实景模拟调试，保证产品一致性；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2C456C-1976-C37A-EA59-761D542E5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685" y="2852936"/>
            <a:ext cx="3133333" cy="2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8F4F-6ACD-7FF2-3671-8F970E8C4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08F6B71-FABB-CB7C-B4DB-07BDCFB2B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731410"/>
              </p:ext>
            </p:extLst>
          </p:nvPr>
        </p:nvGraphicFramePr>
        <p:xfrm>
          <a:off x="559277" y="692696"/>
          <a:ext cx="11073445" cy="5005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707">
                  <a:extLst>
                    <a:ext uri="{9D8B030D-6E8A-4147-A177-3AD203B41FA5}">
                      <a16:colId xmlns:a16="http://schemas.microsoft.com/office/drawing/2014/main" val="2484854893"/>
                    </a:ext>
                  </a:extLst>
                </a:gridCol>
                <a:gridCol w="493584">
                  <a:extLst>
                    <a:ext uri="{9D8B030D-6E8A-4147-A177-3AD203B41FA5}">
                      <a16:colId xmlns:a16="http://schemas.microsoft.com/office/drawing/2014/main" val="2389558240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1146298089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3978798328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3367469615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433108740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2669390221"/>
                    </a:ext>
                  </a:extLst>
                </a:gridCol>
                <a:gridCol w="1602359">
                  <a:extLst>
                    <a:ext uri="{9D8B030D-6E8A-4147-A177-3AD203B41FA5}">
                      <a16:colId xmlns:a16="http://schemas.microsoft.com/office/drawing/2014/main" val="2564211214"/>
                    </a:ext>
                  </a:extLst>
                </a:gridCol>
              </a:tblGrid>
              <a:tr h="522994">
                <a:tc grid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2000" b="1" u="none" strike="noStrike" dirty="0">
                          <a:effectLst/>
                        </a:rPr>
                        <a:t>动臂塔机液压系统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43861"/>
                  </a:ext>
                </a:extLst>
              </a:tr>
              <a:tr h="26578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型号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916181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项目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单位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79972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电源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V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55393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功率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KW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18.5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22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50175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系统压力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Mpa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40138"/>
                  </a:ext>
                </a:extLst>
              </a:tr>
              <a:tr h="4612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油箱容积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加油量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120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120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140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175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175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175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2284188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系统流量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L/min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36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780918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风机功率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200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200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300</a:t>
                      </a:r>
                      <a:endParaRPr lang="en-US" altLang="zh-CN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965569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主阀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力士乐乐卓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力士乐乐卓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力度克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海德罗斯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7198118"/>
                  </a:ext>
                </a:extLst>
              </a:tr>
              <a:tr h="6344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控制阀类型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国产电磁阀组 </a:t>
                      </a:r>
                      <a:b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（力士乐乐卓）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进口电磁阀组</a:t>
                      </a:r>
                      <a:b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Rexroth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Atos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进口电磁阀组</a:t>
                      </a:r>
                      <a:b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Rexroth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Atos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进口电磁阀组</a:t>
                      </a:r>
                      <a:b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（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Rexroth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100" b="1" u="none" strike="noStrike">
                          <a:effectLst/>
                          <a:latin typeface="+mn-ea"/>
                          <a:ea typeface="+mn-ea"/>
                        </a:rPr>
                        <a:t>Atos</a:t>
                      </a: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进口多路阀（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Danfoss)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进口多路阀（</a:t>
                      </a: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Danfoss)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868873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控制方式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开关量控制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开关量控制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开关量控制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比例量控制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比例量控制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比例量控制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6453021"/>
                  </a:ext>
                </a:extLst>
              </a:tr>
              <a:tr h="480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温控系统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带温控模块、自动启停风冷却器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907399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臂架油缸缸径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575693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>
                          <a:effectLst/>
                          <a:latin typeface="+mn-ea"/>
                          <a:ea typeface="+mn-ea"/>
                        </a:rPr>
                        <a:t>臂架油缸杆径</a:t>
                      </a:r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1912234"/>
                  </a:ext>
                </a:extLst>
              </a:tr>
              <a:tr h="2400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臂架油缸行程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>
                          <a:effectLst/>
                          <a:latin typeface="+mn-ea"/>
                          <a:ea typeface="+mn-ea"/>
                        </a:rPr>
                        <a:t>mm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500-1800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70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74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BlZjg0YzhhYTBkZjVjYmJjODk4YmY0N2RiM2MwYWUifQ=="/>
  <p:tag name="KSO_WPP_MARK_KEY" val="461c5cbf-150b-4ec3-94f0-3422db1a66a9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31716</TotalTime>
  <Words>875</Words>
  <Application>Microsoft Office PowerPoint</Application>
  <PresentationFormat>宽屏</PresentationFormat>
  <Paragraphs>125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微软雅黑</vt:lpstr>
      <vt:lpstr>Arial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</dc:creator>
  <cp:lastModifiedBy>纲 董</cp:lastModifiedBy>
  <cp:revision>151</cp:revision>
  <dcterms:created xsi:type="dcterms:W3CDTF">2022-08-10T04:03:00Z</dcterms:created>
  <dcterms:modified xsi:type="dcterms:W3CDTF">2026-01-13T07:17:49Z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8F8FF25B07B0405DB36A66395F0B9AC3</vt:lpwstr>
  </property>
</Properties>
</file>