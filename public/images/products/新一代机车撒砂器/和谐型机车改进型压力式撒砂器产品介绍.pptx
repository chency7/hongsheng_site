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398" r:id="rId5"/>
    <p:sldId id="349" r:id="rId6"/>
    <p:sldId id="383" r:id="rId7"/>
    <p:sldId id="384" r:id="rId8"/>
    <p:sldId id="393" r:id="rId9"/>
    <p:sldId id="385" r:id="rId10"/>
    <p:sldId id="361" r:id="rId11"/>
    <p:sldId id="386" r:id="rId12"/>
    <p:sldId id="397" r:id="rId13"/>
    <p:sldId id="31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00"/>
    <a:srgbClr val="18AD0D"/>
    <a:srgbClr val="269438"/>
    <a:srgbClr val="00B651"/>
    <a:srgbClr val="1DC468"/>
    <a:srgbClr val="769B9B"/>
    <a:srgbClr val="0A7ED1"/>
    <a:srgbClr val="64AF34"/>
    <a:srgbClr val="2B89D5"/>
    <a:srgbClr val="0D7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804" y="28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jpe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1340485"/>
            <a:ext cx="12192635" cy="1379855"/>
            <a:chOff x="0" y="2112"/>
            <a:chExt cx="19201" cy="2049"/>
          </a:xfrm>
        </p:grpSpPr>
        <p:sp>
          <p:nvSpPr>
            <p:cNvPr id="7" name="object 2"/>
            <p:cNvSpPr/>
            <p:nvPr/>
          </p:nvSpPr>
          <p:spPr>
            <a:xfrm>
              <a:off x="0" y="2112"/>
              <a:ext cx="19200" cy="204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矩形 8"/>
            <p:cNvSpPr/>
            <p:nvPr/>
          </p:nvSpPr>
          <p:spPr>
            <a:xfrm>
              <a:off x="0" y="3764"/>
              <a:ext cx="981" cy="196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49" y="3765"/>
              <a:ext cx="18152" cy="195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100000">
                  <a:srgbClr val="034373">
                    <a:alpha val="24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-6985" y="6703695"/>
            <a:ext cx="12204000" cy="154305"/>
          </a:xfrm>
          <a:prstGeom prst="rect">
            <a:avLst/>
          </a:prstGeom>
          <a:solidFill>
            <a:srgbClr val="E5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altLang="zh-CN" sz="900"/>
          </a:p>
        </p:txBody>
      </p:sp>
      <p:sp>
        <p:nvSpPr>
          <p:cNvPr id="15" name="文本框 14"/>
          <p:cNvSpPr txBox="1"/>
          <p:nvPr/>
        </p:nvSpPr>
        <p:spPr>
          <a:xfrm>
            <a:off x="1415480" y="3490816"/>
            <a:ext cx="9194165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zh-CN" altLang="en-US" sz="1200" b="1" spc="130" dirty="0">
              <a:latin typeface="微软雅黑" panose="020B0503020204020204" charset="-122"/>
              <a:ea typeface="微软雅黑" panose="020B0503020204020204" charset="-122"/>
              <a:cs typeface="幼圆" panose="02010509060101010101" charset="-122"/>
              <a:sym typeface="+mn-ea"/>
            </a:endParaRPr>
          </a:p>
          <a:p>
            <a:pPr indent="635" algn="ctr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TQS1-Z</a:t>
            </a:r>
            <a:r>
              <a:rPr lang="zh-CN" altLang="zh-CN" sz="2800" b="1" kern="100" dirty="0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和谐型机车改进型压力式撒砂器</a:t>
            </a:r>
            <a:endParaRPr lang="en-US" altLang="zh-CN" sz="2800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indent="635" algn="ctr">
              <a:spcAft>
                <a:spcPts val="0"/>
              </a:spcAft>
            </a:pPr>
            <a:endParaRPr lang="en-US" altLang="zh-CN" sz="2800" b="1" kern="1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indent="635" algn="ctr"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产品介绍</a:t>
            </a:r>
            <a:endParaRPr lang="zh-CN" altLang="zh-CN" sz="2800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08" y="493317"/>
            <a:ext cx="2160240" cy="5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11467" y="374670"/>
            <a:ext cx="3404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公司简介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1158990"/>
            <a:ext cx="5650787" cy="538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ts val="2600"/>
              </a:lnSpc>
              <a:spcBef>
                <a:spcPct val="0"/>
              </a:spcBef>
              <a:buFontTx/>
              <a:buNone/>
            </a:pP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湖南协力液压有限公司成立于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2002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年，是专业的液压油缸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及系统集成制造商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，主要从事液压油缸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及相关系统集成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的设计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制造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与销售。年销售收入达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1.5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亿元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ts val="26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   公司坐落于长沙市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宁乡经开区车站路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，占地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82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亩，建成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现代化生产车间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达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万平方米，</a:t>
            </a:r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拥有一大批先进技术人才和数控加工设备，加快推行了精益生产和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6S</a:t>
            </a:r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管理，营销和售后服务网络也日渐完善。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产品广泛应用于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工程机械、建筑机械、冶金、机电等需自动控制的设备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是目前国内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领先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的混凝土泵送主油缸生产厂家。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ts val="26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公司已通过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ISO9001:2015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质量管理体系认证和两化融合管理体系认证，确立了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持续满足顾客需求，追求产品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零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缺陷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的质量方针。公司是湖南省液压气动密封件工业协会副理事长单位，湖南省联合轨道交通装备制造创新中心理事单位，并先后荣获“长沙市企业技术研发中心、长沙市智能制造示范企业、国家机械制造业安全生产标准化示范基地、长沙市高新技术企业、长沙市小巨人企业”等荣誉称号。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ts val="2600"/>
              </a:lnSpc>
              <a:spcBef>
                <a:spcPct val="0"/>
              </a:spcBef>
              <a:buFontTx/>
              <a:buNone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公司产品获得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湖南省名牌产品”、“湖南质量领先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级企业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等奖项。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协力油缸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商标被认定为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湖南省著名商标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zh-CN" sz="1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3" descr="\\Hnxl-fileserver\文件归档\综合部\协力宣传\宣传图片\正门1080_108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57" y="1510009"/>
            <a:ext cx="5409256" cy="4841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293" y="312535"/>
            <a:ext cx="2160240" cy="5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3352" y="42293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产品概述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293" y="363798"/>
            <a:ext cx="2160240" cy="58115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240016" y="1394212"/>
            <a:ext cx="5280476" cy="4901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3390" algn="just">
              <a:lnSpc>
                <a:spcPct val="150000"/>
              </a:lnSpc>
            </a:pP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原和谐</a:t>
            </a:r>
            <a:r>
              <a:rPr lang="zh-CN" altLang="en-US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型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机车压差式撒砂器在机车运行过程中存在许多质量问题，特别是一些机务段使用小砂粒或不合标准的砂粒，容易导致透气板堵实即“板结”等问题导致撒砂不良，甚至出现较多的不撒砂现象，每次清理费时费力。针对这些问题和现状，</a:t>
            </a:r>
            <a:r>
              <a:rPr lang="zh-CN" altLang="en-US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湖南协力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通过对各个机务段进行撒砂器故障情况调研后，总结各型号撒砂器存在的缺陷，有针对性的对撒砂器进行了提质的改进设计，以满足和谐型机车撒砂的要求。新的撒砂器经过试验装置反复试验和上机试验，已证明了其有效性，并</a:t>
            </a:r>
            <a:r>
              <a:rPr lang="zh-CN" altLang="en-US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已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申报了专利。</a:t>
            </a:r>
            <a:endParaRPr lang="en-US" altLang="zh-CN" sz="1400" b="1" kern="10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indent="453390" algn="just">
              <a:lnSpc>
                <a:spcPct val="150000"/>
              </a:lnSpc>
            </a:pP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和谐型机车压力式撒砂器改进型属气流压差式撒砂，其安装方法、高度、接口尺寸与原撒砂器保持一致；共两个进风口，一个是撒砂风口</a:t>
            </a:r>
            <a:r>
              <a:rPr lang="en-US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在撒砂时开启，风量较大；另一个是常风口</a:t>
            </a:r>
            <a:r>
              <a:rPr lang="en-US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风量较小，一直开启，用来干燥砂子，配合撒砂装置上</a:t>
            </a:r>
            <a:r>
              <a:rPr lang="en-US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lang="zh-CN" altLang="zh-CN" sz="14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型结构加热器，能将撒砂器腔体包裹于加热器的加热范围内，使其对砂粒的加热范围和效率更</a:t>
            </a:r>
            <a:r>
              <a:rPr lang="zh-CN" altLang="en-US" sz="1400" b="1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高。撒砂器可通过对撒砂口供气管路上设置的节流阀的调节来控制风压，从而更精确的控制撒砂量。</a:t>
            </a:r>
            <a:endParaRPr lang="en-US" altLang="zh-CN" sz="1400" b="1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1" descr="WP_20130725_003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4" y="1607022"/>
            <a:ext cx="4897001" cy="468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35360" y="419984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安装示意图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400" y="362045"/>
            <a:ext cx="2160240" cy="581159"/>
          </a:xfrm>
          <a:prstGeom prst="rect">
            <a:avLst/>
          </a:prstGeom>
        </p:spPr>
      </p:pic>
      <p:pic>
        <p:nvPicPr>
          <p:cNvPr id="3074" name="图片 2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255" y="2135378"/>
            <a:ext cx="5328592" cy="395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7508678" y="6239919"/>
            <a:ext cx="274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00" dirty="0">
                <a:effectLst/>
                <a:latin typeface="楷体_GB2312"/>
                <a:ea typeface="宋体" panose="02010600030101010101" pitchFamily="2" charset="-122"/>
              </a:rPr>
              <a:t>A.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_GB2312"/>
              </a:rPr>
              <a:t>砂箱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_GB2312"/>
              </a:rPr>
              <a:t>  B.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_GB2312"/>
              </a:rPr>
              <a:t>撒砂器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5" descr="喷砂装置A-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" y="1628800"/>
            <a:ext cx="5113025" cy="438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952100" y="1246516"/>
          <a:ext cx="5920901" cy="7205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843"/>
                <a:gridCol w="845843"/>
                <a:gridCol w="845843"/>
                <a:gridCol w="845843"/>
                <a:gridCol w="845843"/>
                <a:gridCol w="845843"/>
                <a:gridCol w="845843"/>
              </a:tblGrid>
              <a:tr h="3602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长度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宽度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高度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出砂口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清理口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风口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2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尺寸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11.6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10.2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Φ</a:t>
                      </a: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1.8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Φ</a:t>
                      </a: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2.4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Φ</a:t>
                      </a: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1.2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91344" y="432721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工作原理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416" y="364991"/>
            <a:ext cx="2160240" cy="58115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1196752"/>
            <a:ext cx="6402114" cy="482453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923892" y="6262099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ea typeface="楷体_GB2312"/>
                <a:cs typeface="Times New Roman" panose="02020603050405020304" pitchFamily="18" charset="0"/>
              </a:rPr>
              <a:t>工作原理示意图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025049" y="140841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工作原理：砂粒进入撒砂器内部腔体，在需要撒砂的情况下，通过吹砂风口和内部结构将压缩气体送往撒砂器风嘴，只要供风的压力在给定的范围内</a:t>
            </a:r>
            <a:r>
              <a:rPr lang="en-US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气流将吹起腔体内的砂子并从出砂口将其排出，而腔体内的砂子不断流入补充，从而达到撒砂的目的。撒砂器中吹砂风口分两路风嘴（见图），分别能将进入腔体内的砂粒进行搅动和吹出。另一常风口风嘴有较小风量排出（见图），风压很小，能吹入砂堆中并渗透至砂粒间，防止砂粒板结，其与撒砂装置上的加热装置配合使用，可将撒砂装置上表面和腔体内部受潮砂粒进行烘干，防止板结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11467" y="42293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优势分析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293" y="364991"/>
            <a:ext cx="2160240" cy="581159"/>
          </a:xfrm>
          <a:prstGeom prst="rect">
            <a:avLst/>
          </a:prstGeom>
        </p:spPr>
      </p:pic>
      <p:pic>
        <p:nvPicPr>
          <p:cNvPr id="4098" name="图片 3" descr="喷砂装置A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" y="1268761"/>
            <a:ext cx="4392945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: 圆角 12"/>
          <p:cNvSpPr/>
          <p:nvPr/>
        </p:nvSpPr>
        <p:spPr>
          <a:xfrm>
            <a:off x="6426793" y="1598033"/>
            <a:ext cx="4968552" cy="6480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维护维修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清理杂物较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更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方便</a:t>
            </a:r>
            <a:endParaRPr lang="en-US" altLang="zh-CN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426793" y="3678140"/>
            <a:ext cx="4968552" cy="6480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采用新型复合材料，耐磨性更好，使用寿命延长</a:t>
            </a:r>
            <a:r>
              <a:rPr lang="en-US" altLang="zh-CN" sz="2000" b="1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30%</a:t>
            </a:r>
            <a:r>
              <a:rPr lang="zh-CN" altLang="en-US" sz="2000" b="1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以上</a:t>
            </a:r>
            <a:endParaRPr lang="en-US" altLang="zh-CN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429375" y="2603044"/>
            <a:ext cx="4968552" cy="6480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砂粒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类型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要求不高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经济性更好</a:t>
            </a:r>
            <a:endParaRPr lang="en-US" altLang="zh-CN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434574" y="5668354"/>
            <a:ext cx="4968552" cy="6480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砂箱密封性未增加特殊要求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、适应面更广</a:t>
            </a:r>
            <a:endParaRPr lang="en-US" altLang="zh-CN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426793" y="4668022"/>
            <a:ext cx="4968552" cy="6480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可适时</a:t>
            </a:r>
            <a:r>
              <a:rPr lang="zh-CN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调整出砂量，适应性更佳</a:t>
            </a:r>
            <a:endParaRPr lang="en-US" altLang="zh-CN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0" y="3838044"/>
            <a:ext cx="4413269" cy="2756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11466" y="427851"/>
            <a:ext cx="2472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产品细节展示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470" y="364991"/>
            <a:ext cx="2160240" cy="5811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280345"/>
            <a:ext cx="3739344" cy="24928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923" y="1280345"/>
            <a:ext cx="3739344" cy="249289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265" y="1280345"/>
            <a:ext cx="3409779" cy="249289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4102516"/>
            <a:ext cx="3739344" cy="249289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922" y="4102516"/>
            <a:ext cx="3739343" cy="249289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265" y="4102515"/>
            <a:ext cx="3409778" cy="2492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807708"/>
            <a:ext cx="12192635" cy="132080"/>
            <a:chOff x="0" y="3863"/>
            <a:chExt cx="19201" cy="208"/>
          </a:xfrm>
        </p:grpSpPr>
        <p:sp>
          <p:nvSpPr>
            <p:cNvPr id="9" name="矩形 8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11467" y="193118"/>
            <a:ext cx="2946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制造设备展示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" y="1821936"/>
            <a:ext cx="3287285" cy="1872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9"/>
          <p:cNvSpPr txBox="1">
            <a:spLocks noChangeArrowheads="1"/>
          </p:cNvSpPr>
          <p:nvPr/>
        </p:nvSpPr>
        <p:spPr bwMode="auto">
          <a:xfrm>
            <a:off x="1229145" y="1378732"/>
            <a:ext cx="2074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焊接机器人工作站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305" y="1821935"/>
            <a:ext cx="2922161" cy="1872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5159375" y="1378732"/>
            <a:ext cx="1873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数控焊接摆搭机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586" y="1794947"/>
            <a:ext cx="3003196" cy="1892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8987915" y="1378732"/>
            <a:ext cx="2014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</a:rPr>
              <a:t>4.5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米长加工中心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7" descr="H:\资料信息\file\阿里巴巴资料\平台构建\平台图片\公司\公司的图片\IMG_3535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" y="4440346"/>
            <a:ext cx="3287284" cy="218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330745" y="4037188"/>
            <a:ext cx="1871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1800" b="1" dirty="0">
                <a:latin typeface="微软雅黑" panose="020B0503020204020204" charset="-122"/>
                <a:ea typeface="微软雅黑" panose="020B0503020204020204" charset="-122"/>
              </a:rPr>
              <a:t>大型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深</a:t>
            </a:r>
            <a:r>
              <a:rPr lang="zh-CN" altLang="zh-CN" sz="1800" b="1" dirty="0">
                <a:latin typeface="微软雅黑" panose="020B0503020204020204" charset="-122"/>
                <a:ea typeface="微软雅黑" panose="020B0503020204020204" charset="-122"/>
              </a:rPr>
              <a:t>孔镗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305" y="4440345"/>
            <a:ext cx="2922161" cy="2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1"/>
          <p:cNvSpPr txBox="1">
            <a:spLocks noChangeArrowheads="1"/>
          </p:cNvSpPr>
          <p:nvPr/>
        </p:nvSpPr>
        <p:spPr bwMode="auto">
          <a:xfrm>
            <a:off x="5123291" y="4028825"/>
            <a:ext cx="1871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液压试验台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"/>
          <p:cNvPicPr>
            <a:picLocks noChangeAspect="1" noChangeArrowheads="1"/>
          </p:cNvPicPr>
          <p:nvPr/>
        </p:nvPicPr>
        <p:blipFill>
          <a:blip r:embed="rId6"/>
          <a:srcRect l="34852" t="17180" r="23351" b="17939"/>
          <a:stretch>
            <a:fillRect/>
          </a:stretch>
        </p:blipFill>
        <p:spPr bwMode="auto">
          <a:xfrm>
            <a:off x="8493586" y="4466824"/>
            <a:ext cx="3003196" cy="2120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文本框 17"/>
          <p:cNvSpPr txBox="1"/>
          <p:nvPr/>
        </p:nvSpPr>
        <p:spPr>
          <a:xfrm>
            <a:off x="8946560" y="4050729"/>
            <a:ext cx="2097248" cy="369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数控高速加工中心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293" y="222655"/>
            <a:ext cx="2160240" cy="5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91344" y="446226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公司荣誉展示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416" y="364991"/>
            <a:ext cx="2160240" cy="581159"/>
          </a:xfrm>
          <a:prstGeom prst="rect">
            <a:avLst/>
          </a:prstGeom>
        </p:spPr>
      </p:pic>
      <p:pic>
        <p:nvPicPr>
          <p:cNvPr id="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96753"/>
            <a:ext cx="1174983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  <a:endParaRPr lang="zh-CN" altLang="en-US" sz="900">
              <a:latin typeface="+mj-lt"/>
              <a:cs typeface="+mj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61290" y="428858"/>
            <a:ext cx="3414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主要客户及合作品牌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448" y="4717443"/>
            <a:ext cx="1440815" cy="10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37" b="24209"/>
          <a:stretch>
            <a:fillRect/>
          </a:stretch>
        </p:blipFill>
        <p:spPr bwMode="auto">
          <a:xfrm>
            <a:off x="9289861" y="4856821"/>
            <a:ext cx="1769745" cy="767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925" y="4856821"/>
            <a:ext cx="1431925" cy="10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4943675"/>
            <a:ext cx="2052955" cy="763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3379198"/>
            <a:ext cx="1885950" cy="9048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413" y="3379198"/>
            <a:ext cx="2209165" cy="96139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728" y="3565253"/>
            <a:ext cx="2046605" cy="5892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145" y="3414077"/>
            <a:ext cx="1019175" cy="87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0470" y="364991"/>
            <a:ext cx="2160240" cy="5811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1024" y="1418374"/>
            <a:ext cx="1289726" cy="106997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0419" y="1674923"/>
            <a:ext cx="2285225" cy="81342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6320" y="1610115"/>
            <a:ext cx="2171922" cy="87823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958" y="1600942"/>
            <a:ext cx="2993870" cy="961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1000"/>
          </a:blip>
          <a:stretch>
            <a:fillRect/>
          </a:stretch>
        </p:blipFill>
        <p:spPr>
          <a:xfrm>
            <a:off x="0" y="0"/>
            <a:ext cx="12192000" cy="70447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03" y="243794"/>
            <a:ext cx="8311793" cy="4410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43251" y="5302806"/>
            <a:ext cx="4105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地址：湖南省长沙市宁乡经济开发区车站路</a:t>
            </a:r>
            <a:endParaRPr lang="en-US" altLang="zh-CN" sz="1600" b="1" kern="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16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电话：</a:t>
            </a:r>
            <a:r>
              <a:rPr lang="en-US" altLang="zh-CN" sz="16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13574880391               </a:t>
            </a:r>
            <a:endParaRPr lang="en-US" altLang="zh-CN" sz="1600" b="1" kern="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6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邮箱：</a:t>
            </a:r>
            <a:r>
              <a:rPr lang="en-US" altLang="zh-CN" sz="16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william_tung@163.com</a:t>
            </a:r>
            <a:endParaRPr lang="en-US" altLang="zh-CN" sz="1600" b="1" kern="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TBlZjg0YzhhYTBkZjVjYmJjODk4YmY0N2RiM2MwYWUifQ=="/>
  <p:tag name="KSO_WPP_MARK_KEY" val="461c5cbf-150b-4ec3-94f0-3422db1a66a9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1841</Words>
  <Application>WPS 演示</Application>
  <PresentationFormat>宽屏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幼圆</vt:lpstr>
      <vt:lpstr>Times New Roman</vt:lpstr>
      <vt:lpstr>楷体_GB2312</vt:lpstr>
      <vt:lpstr>新宋体</vt:lpstr>
      <vt:lpstr>Calibri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</dc:creator>
  <cp:lastModifiedBy>Error</cp:lastModifiedBy>
  <cp:revision>140</cp:revision>
  <dcterms:created xsi:type="dcterms:W3CDTF">2022-08-10T04:03:00Z</dcterms:created>
  <dcterms:modified xsi:type="dcterms:W3CDTF">2026-05-04T13:04:16Z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76B19CC952874F83AAD59D245B5C0D39_13</vt:lpwstr>
  </property>
</Properties>
</file>