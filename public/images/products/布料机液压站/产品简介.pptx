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349" r:id="rId3"/>
    <p:sldId id="383" r:id="rId4"/>
    <p:sldId id="399" r:id="rId5"/>
  </p:sldIdLst>
  <p:sldSz cx="12192000" cy="6858000"/>
  <p:notesSz cx="6858000" cy="9144000"/>
  <p:custDataLst>
    <p:tags r:id="rId8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0000"/>
    <a:srgbClr val="18AD0D"/>
    <a:srgbClr val="269438"/>
    <a:srgbClr val="00B651"/>
    <a:srgbClr val="1DC468"/>
    <a:srgbClr val="769B9B"/>
    <a:srgbClr val="0A7ED1"/>
    <a:srgbClr val="64AF34"/>
    <a:srgbClr val="2B89D5"/>
    <a:srgbClr val="0D7E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2" d="100"/>
          <a:sy n="62" d="100"/>
        </p:scale>
        <p:origin x="616" y="40"/>
      </p:cViewPr>
      <p:guideLst>
        <p:guide orient="horz" pos="227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2025-12-25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2025-12-25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535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916F3-8B2D-64BC-FCCB-D92F0FDA1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519D2E-677B-D26C-C3BE-CECFA69D2E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3D2BEA-6A88-F6EB-FF80-29C1F280543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094690-C51F-E0C6-83BB-D43A654C4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570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4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0" y="1340485"/>
            <a:ext cx="12192635" cy="1379855"/>
            <a:chOff x="0" y="2112"/>
            <a:chExt cx="19201" cy="2049"/>
          </a:xfrm>
        </p:grpSpPr>
        <p:sp>
          <p:nvSpPr>
            <p:cNvPr id="7" name="object 2"/>
            <p:cNvSpPr/>
            <p:nvPr/>
          </p:nvSpPr>
          <p:spPr>
            <a:xfrm>
              <a:off x="0" y="2112"/>
              <a:ext cx="19200" cy="204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3764"/>
              <a:ext cx="981" cy="196"/>
            </a:xfrm>
            <a:prstGeom prst="rect">
              <a:avLst/>
            </a:prstGeom>
            <a:solidFill>
              <a:srgbClr val="E5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049" y="3765"/>
              <a:ext cx="18152" cy="195"/>
            </a:xfrm>
            <a:prstGeom prst="rect">
              <a:avLst/>
            </a:prstGeom>
            <a:gradFill>
              <a:gsLst>
                <a:gs pos="0">
                  <a:srgbClr val="007BD3"/>
                </a:gs>
                <a:gs pos="100000">
                  <a:srgbClr val="034373">
                    <a:alpha val="24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 12"/>
          <p:cNvSpPr/>
          <p:nvPr/>
        </p:nvSpPr>
        <p:spPr>
          <a:xfrm>
            <a:off x="-6985" y="6703695"/>
            <a:ext cx="12204000" cy="154305"/>
          </a:xfrm>
          <a:prstGeom prst="rect">
            <a:avLst/>
          </a:prstGeom>
          <a:solidFill>
            <a:srgbClr val="E5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415480" y="3490816"/>
            <a:ext cx="9194165" cy="12618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zh-CN" altLang="en-US" sz="1200" b="1" spc="130" dirty="0">
              <a:latin typeface="微软雅黑" panose="020B0503020204020204" charset="-122"/>
              <a:ea typeface="微软雅黑" panose="020B0503020204020204" charset="-122"/>
              <a:cs typeface="幼圆" panose="02010509060101010101" charset="-122"/>
              <a:sym typeface="+mn-ea"/>
            </a:endParaRPr>
          </a:p>
          <a:p>
            <a:pPr indent="635" algn="ctr">
              <a:spcAft>
                <a:spcPts val="0"/>
              </a:spcAft>
            </a:pPr>
            <a:r>
              <a:rPr lang="zh-CN" altLang="en-US" sz="3600" b="1" kern="10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混凝土楼面布料机</a:t>
            </a:r>
            <a:endParaRPr lang="en-US" altLang="zh-CN" sz="3600" b="1" kern="100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 indent="635" algn="ctr">
              <a:spcAft>
                <a:spcPts val="0"/>
              </a:spcAft>
            </a:pPr>
            <a:r>
              <a:rPr lang="zh-CN" altLang="en-US" sz="2800" b="1" kern="10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全系统解决方案</a:t>
            </a:r>
            <a:endParaRPr lang="zh-CN" altLang="zh-CN" sz="2800" b="1" kern="100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3FCB7F5-D5F0-EA30-D183-982A208D8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760" y="311875"/>
            <a:ext cx="3404950" cy="538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11362055" y="6626225"/>
            <a:ext cx="668655" cy="200025"/>
          </a:xfrm>
        </p:spPr>
        <p:txBody>
          <a:bodyPr/>
          <a:lstStyle/>
          <a:p>
            <a:pPr lvl="0" algn="ctr"/>
            <a:r>
              <a:rPr lang="zh-CN" altLang="en-US" sz="900">
                <a:latin typeface="+mj-lt"/>
                <a:cs typeface="+mj-lt"/>
              </a:rPr>
              <a:t>-</a:t>
            </a:r>
            <a:r>
              <a:rPr lang="en-US" altLang="zh-CN" sz="900">
                <a:latin typeface="+mj-lt"/>
                <a:cs typeface="+mj-lt"/>
              </a:rPr>
              <a:t> 2 </a:t>
            </a:r>
            <a:r>
              <a:rPr lang="zh-CN" altLang="en-US" sz="900">
                <a:latin typeface="+mj-lt"/>
                <a:cs typeface="+mj-lt"/>
              </a:rPr>
              <a:t>-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0" y="946150"/>
            <a:ext cx="12192635" cy="132080"/>
            <a:chOff x="0" y="3863"/>
            <a:chExt cx="19201" cy="208"/>
          </a:xfrm>
        </p:grpSpPr>
        <p:sp>
          <p:nvSpPr>
            <p:cNvPr id="14" name="矩形 13"/>
            <p:cNvSpPr/>
            <p:nvPr/>
          </p:nvSpPr>
          <p:spPr>
            <a:xfrm>
              <a:off x="0" y="3863"/>
              <a:ext cx="981" cy="208"/>
            </a:xfrm>
            <a:prstGeom prst="rect">
              <a:avLst/>
            </a:prstGeom>
            <a:solidFill>
              <a:srgbClr val="E5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049" y="3864"/>
              <a:ext cx="18152" cy="207"/>
            </a:xfrm>
            <a:prstGeom prst="rect">
              <a:avLst/>
            </a:prstGeom>
            <a:gradFill>
              <a:gsLst>
                <a:gs pos="0">
                  <a:srgbClr val="007BD3"/>
                </a:gs>
                <a:gs pos="30000">
                  <a:srgbClr val="034373">
                    <a:alpha val="8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A8E9E008-58FC-CA2C-7AA7-8E75E6DDCE51}"/>
              </a:ext>
            </a:extLst>
          </p:cNvPr>
          <p:cNvSpPr txBox="1"/>
          <p:nvPr/>
        </p:nvSpPr>
        <p:spPr>
          <a:xfrm>
            <a:off x="263352" y="422930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产品概述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4ADD787-40EE-76DD-1F39-40CBCA301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1082" y="347303"/>
            <a:ext cx="3404950" cy="53839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0436ACD-FD62-1E27-4EA5-AD88DC2D4B9E}"/>
              </a:ext>
            </a:extLst>
          </p:cNvPr>
          <p:cNvSpPr txBox="1"/>
          <p:nvPr/>
        </p:nvSpPr>
        <p:spPr>
          <a:xfrm>
            <a:off x="622935" y="1139322"/>
            <a:ext cx="10903097" cy="4342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、全套解决方案针对混凝土布料机进行设计，包含液压系统、电控系统、液压油缸、回转过电环模块</a:t>
            </a:r>
            <a:r>
              <a:rPr lang="en-US" altLang="zh-CN" b="1" dirty="0"/>
              <a:t>(</a:t>
            </a:r>
            <a:r>
              <a:rPr lang="zh-CN" altLang="en-US" b="1" dirty="0"/>
              <a:t>选配</a:t>
            </a:r>
            <a:r>
              <a:rPr lang="en-US" altLang="zh-CN" b="1" dirty="0"/>
              <a:t>)</a:t>
            </a:r>
            <a:r>
              <a:rPr lang="zh-CN" altLang="en-US" b="1" dirty="0"/>
              <a:t>，完美实现布料机各项功能。</a:t>
            </a:r>
            <a:endParaRPr lang="en-US" altLang="zh-CN" b="1" dirty="0"/>
          </a:p>
          <a:p>
            <a:r>
              <a:rPr lang="en-US" altLang="zh-CN" b="1" dirty="0"/>
              <a:t>2</a:t>
            </a:r>
            <a:r>
              <a:rPr lang="zh-CN" altLang="en-US" b="1" dirty="0"/>
              <a:t>、整体美观大方，占用空间小，适合行走式、内爬式及顶升式等各类机型</a:t>
            </a:r>
            <a:r>
              <a:rPr lang="en-US" altLang="zh-CN" b="1" dirty="0"/>
              <a:t>:</a:t>
            </a:r>
          </a:p>
          <a:p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23</a:t>
            </a:r>
            <a:r>
              <a:rPr lang="zh-CN" altLang="en-US" b="1" dirty="0"/>
              <a:t>年专业液压油缸制造厂家，混凝土泵送主油缸市场占有量全国领先，满足所有布料机油缸需求；</a:t>
            </a:r>
            <a:endParaRPr lang="en-US" altLang="zh-CN" b="1" dirty="0"/>
          </a:p>
          <a:p>
            <a:r>
              <a:rPr lang="en-US" altLang="zh-CN" b="1" dirty="0"/>
              <a:t>4</a:t>
            </a:r>
            <a:r>
              <a:rPr lang="zh-CN" altLang="en-US" b="1" dirty="0"/>
              <a:t>、液压系统针对不同型号布料机进行专项优化，配置高（可选用比例多路阀）、动力强劲、可靠性高</a:t>
            </a:r>
            <a:r>
              <a:rPr lang="en-US" altLang="zh-CN" b="1" dirty="0"/>
              <a:t>;</a:t>
            </a:r>
          </a:p>
          <a:p>
            <a:r>
              <a:rPr lang="en-US" altLang="zh-CN" b="1" dirty="0"/>
              <a:t>5</a:t>
            </a:r>
            <a:r>
              <a:rPr lang="zh-CN" altLang="en-US" b="1" dirty="0"/>
              <a:t>、所有液压泵站自带防雨棚，适应布料机室外作业。</a:t>
            </a:r>
          </a:p>
          <a:p>
            <a:r>
              <a:rPr lang="en-US" altLang="zh-CN" b="1" dirty="0"/>
              <a:t>6</a:t>
            </a:r>
            <a:r>
              <a:rPr lang="zh-CN" altLang="en-US" b="1" dirty="0"/>
              <a:t>、所有液压元件均采用优质国产或进口件，性价比高，稳定性强，经久耐用，维护方便</a:t>
            </a:r>
            <a:r>
              <a:rPr lang="en-US" altLang="zh-CN" b="1" dirty="0"/>
              <a:t>;</a:t>
            </a:r>
          </a:p>
          <a:p>
            <a:r>
              <a:rPr lang="en-US" altLang="zh-CN" b="1" dirty="0"/>
              <a:t>7</a:t>
            </a:r>
            <a:r>
              <a:rPr lang="zh-CN" altLang="en-US" b="1" dirty="0"/>
              <a:t>、专门为布料机开发的电控系统，确保每一个动作执行到位，并配有保护及后备线路，大大提高施工稳定性；</a:t>
            </a:r>
            <a:endParaRPr lang="en-US" altLang="zh-CN" b="1" dirty="0"/>
          </a:p>
          <a:p>
            <a:r>
              <a:rPr lang="en-US" altLang="zh-CN" b="1" dirty="0"/>
              <a:t>8</a:t>
            </a:r>
            <a:r>
              <a:rPr lang="zh-CN" altLang="en-US" b="1" dirty="0"/>
              <a:t>、所有型号均配备无线</a:t>
            </a:r>
            <a:r>
              <a:rPr lang="en-US" altLang="zh-CN" b="1" dirty="0"/>
              <a:t>/</a:t>
            </a:r>
            <a:r>
              <a:rPr lang="zh-CN" altLang="en-US" b="1" dirty="0"/>
              <a:t>有线遥控器，高端型号更可配备肩式无线</a:t>
            </a:r>
            <a:r>
              <a:rPr lang="en-US" altLang="zh-CN" b="1" dirty="0"/>
              <a:t>/</a:t>
            </a:r>
            <a:r>
              <a:rPr lang="zh-CN" altLang="en-US" b="1" dirty="0"/>
              <a:t>有线一体遥控器，降低现场劳动强度及施工风险；</a:t>
            </a:r>
            <a:endParaRPr lang="en-US" altLang="zh-CN" b="1" dirty="0"/>
          </a:p>
          <a:p>
            <a:r>
              <a:rPr lang="en-US" altLang="zh-CN" b="1" dirty="0"/>
              <a:t>9</a:t>
            </a:r>
            <a:r>
              <a:rPr lang="zh-CN" altLang="en-US" b="1" dirty="0"/>
              <a:t>、电控箱箱体采用不锈钢箱体并配备防雨罩，适应各种施工环境；</a:t>
            </a:r>
            <a:endParaRPr lang="en-US" altLang="zh-CN" b="1" dirty="0"/>
          </a:p>
          <a:p>
            <a:r>
              <a:rPr lang="en-US" altLang="zh-CN" b="1" dirty="0"/>
              <a:t>10</a:t>
            </a:r>
            <a:r>
              <a:rPr lang="zh-CN" altLang="en-US" b="1" dirty="0"/>
              <a:t>、独有的回转过电环模块；</a:t>
            </a:r>
            <a:endParaRPr lang="en-US" altLang="zh-CN" b="1" dirty="0"/>
          </a:p>
          <a:p>
            <a:r>
              <a:rPr lang="en-US" altLang="zh-CN" b="1" dirty="0"/>
              <a:t>11</a:t>
            </a:r>
            <a:r>
              <a:rPr lang="zh-CN" altLang="en-US" b="1" dirty="0"/>
              <a:t>、配备自动温控系统，即温度达到上限设定值自动启动风冷却器，低于下限设定值关闭风冷却器。</a:t>
            </a:r>
          </a:p>
          <a:p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11362055" y="6626225"/>
            <a:ext cx="668655" cy="200025"/>
          </a:xfrm>
        </p:spPr>
        <p:txBody>
          <a:bodyPr/>
          <a:lstStyle/>
          <a:p>
            <a:pPr lvl="0" algn="ctr"/>
            <a:r>
              <a:rPr lang="zh-CN" altLang="en-US" sz="900">
                <a:latin typeface="+mj-lt"/>
                <a:cs typeface="+mj-lt"/>
              </a:rPr>
              <a:t>-</a:t>
            </a:r>
            <a:r>
              <a:rPr lang="en-US" altLang="zh-CN" sz="900">
                <a:latin typeface="+mj-lt"/>
                <a:cs typeface="+mj-lt"/>
              </a:rPr>
              <a:t> 2 </a:t>
            </a:r>
            <a:r>
              <a:rPr lang="zh-CN" altLang="en-US" sz="900">
                <a:latin typeface="+mj-lt"/>
                <a:cs typeface="+mj-lt"/>
              </a:rPr>
              <a:t>-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0" y="946150"/>
            <a:ext cx="12192635" cy="132080"/>
            <a:chOff x="0" y="3863"/>
            <a:chExt cx="19201" cy="208"/>
          </a:xfrm>
        </p:grpSpPr>
        <p:sp>
          <p:nvSpPr>
            <p:cNvPr id="14" name="矩形 13"/>
            <p:cNvSpPr/>
            <p:nvPr/>
          </p:nvSpPr>
          <p:spPr>
            <a:xfrm>
              <a:off x="0" y="3863"/>
              <a:ext cx="981" cy="208"/>
            </a:xfrm>
            <a:prstGeom prst="rect">
              <a:avLst/>
            </a:prstGeom>
            <a:solidFill>
              <a:srgbClr val="E5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049" y="3864"/>
              <a:ext cx="18152" cy="207"/>
            </a:xfrm>
            <a:prstGeom prst="rect">
              <a:avLst/>
            </a:prstGeom>
            <a:gradFill>
              <a:gsLst>
                <a:gs pos="0">
                  <a:srgbClr val="007BD3"/>
                </a:gs>
                <a:gs pos="30000">
                  <a:srgbClr val="034373">
                    <a:alpha val="8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A8E9E008-58FC-CA2C-7AA7-8E75E6DDCE51}"/>
              </a:ext>
            </a:extLst>
          </p:cNvPr>
          <p:cNvSpPr txBox="1"/>
          <p:nvPr/>
        </p:nvSpPr>
        <p:spPr>
          <a:xfrm>
            <a:off x="335360" y="419984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技术参数表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291A64A-0EBA-03FC-50D8-A289AFC35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432" y="305176"/>
            <a:ext cx="3404950" cy="53839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B1D48BE-D5C8-63F6-96C4-839D0C40AEF3}"/>
              </a:ext>
            </a:extLst>
          </p:cNvPr>
          <p:cNvSpPr txBox="1"/>
          <p:nvPr/>
        </p:nvSpPr>
        <p:spPr>
          <a:xfrm>
            <a:off x="6635158" y="6275825"/>
            <a:ext cx="50672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由于技术不断更新进步，技术参数及配置与实物差异之处以交机实物为准</a:t>
            </a:r>
            <a:endParaRPr lang="zh-CN" altLang="en-US" sz="1200" b="1" dirty="0">
              <a:latin typeface="+mn-ea"/>
              <a:ea typeface="+mn-ea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153428C-C3CE-A714-BA01-E51BDFF79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295575"/>
              </p:ext>
            </p:extLst>
          </p:nvPr>
        </p:nvGraphicFramePr>
        <p:xfrm>
          <a:off x="622935" y="1197116"/>
          <a:ext cx="11073445" cy="50053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5707">
                  <a:extLst>
                    <a:ext uri="{9D8B030D-6E8A-4147-A177-3AD203B41FA5}">
                      <a16:colId xmlns:a16="http://schemas.microsoft.com/office/drawing/2014/main" val="2484854893"/>
                    </a:ext>
                  </a:extLst>
                </a:gridCol>
                <a:gridCol w="493584">
                  <a:extLst>
                    <a:ext uri="{9D8B030D-6E8A-4147-A177-3AD203B41FA5}">
                      <a16:colId xmlns:a16="http://schemas.microsoft.com/office/drawing/2014/main" val="2389558240"/>
                    </a:ext>
                  </a:extLst>
                </a:gridCol>
                <a:gridCol w="1602359">
                  <a:extLst>
                    <a:ext uri="{9D8B030D-6E8A-4147-A177-3AD203B41FA5}">
                      <a16:colId xmlns:a16="http://schemas.microsoft.com/office/drawing/2014/main" val="1146298089"/>
                    </a:ext>
                  </a:extLst>
                </a:gridCol>
                <a:gridCol w="1602359">
                  <a:extLst>
                    <a:ext uri="{9D8B030D-6E8A-4147-A177-3AD203B41FA5}">
                      <a16:colId xmlns:a16="http://schemas.microsoft.com/office/drawing/2014/main" val="3978798328"/>
                    </a:ext>
                  </a:extLst>
                </a:gridCol>
                <a:gridCol w="1602359">
                  <a:extLst>
                    <a:ext uri="{9D8B030D-6E8A-4147-A177-3AD203B41FA5}">
                      <a16:colId xmlns:a16="http://schemas.microsoft.com/office/drawing/2014/main" val="3367469615"/>
                    </a:ext>
                  </a:extLst>
                </a:gridCol>
                <a:gridCol w="1602359">
                  <a:extLst>
                    <a:ext uri="{9D8B030D-6E8A-4147-A177-3AD203B41FA5}">
                      <a16:colId xmlns:a16="http://schemas.microsoft.com/office/drawing/2014/main" val="433108740"/>
                    </a:ext>
                  </a:extLst>
                </a:gridCol>
                <a:gridCol w="1602359">
                  <a:extLst>
                    <a:ext uri="{9D8B030D-6E8A-4147-A177-3AD203B41FA5}">
                      <a16:colId xmlns:a16="http://schemas.microsoft.com/office/drawing/2014/main" val="2669390221"/>
                    </a:ext>
                  </a:extLst>
                </a:gridCol>
                <a:gridCol w="1602359">
                  <a:extLst>
                    <a:ext uri="{9D8B030D-6E8A-4147-A177-3AD203B41FA5}">
                      <a16:colId xmlns:a16="http://schemas.microsoft.com/office/drawing/2014/main" val="2564211214"/>
                    </a:ext>
                  </a:extLst>
                </a:gridCol>
              </a:tblGrid>
              <a:tr h="522994">
                <a:tc grid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000" b="1" u="none" strike="noStrike" dirty="0">
                          <a:effectLst/>
                        </a:rPr>
                        <a:t>液压系统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43861"/>
                  </a:ext>
                </a:extLst>
              </a:tr>
              <a:tr h="26578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型号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+mn-ea"/>
                          <a:ea typeface="+mn-ea"/>
                        </a:rPr>
                        <a:t>17/21M-3RM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effectLst/>
                          <a:latin typeface="+mn-ea"/>
                          <a:ea typeface="+mn-ea"/>
                        </a:rPr>
                        <a:t>17/21M-3RH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effectLst/>
                          <a:latin typeface="+mn-ea"/>
                          <a:ea typeface="+mn-ea"/>
                        </a:rPr>
                        <a:t>33M-3RM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effectLst/>
                          <a:latin typeface="+mn-ea"/>
                          <a:ea typeface="+mn-ea"/>
                        </a:rPr>
                        <a:t>33M-4RM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effectLst/>
                          <a:latin typeface="+mn-ea"/>
                          <a:ea typeface="+mn-ea"/>
                        </a:rPr>
                        <a:t>33M-4RH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effectLst/>
                          <a:latin typeface="+mn-ea"/>
                          <a:ea typeface="+mn-ea"/>
                        </a:rPr>
                        <a:t>36M-4RH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916181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项目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单位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979972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电源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V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380V/50Hz/60Hz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380V/50Hz/60Hz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380V/50Hz/60Hz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380V/50Hz/60Hz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380V/50Hz/60Hz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380V/50Hz/60Hz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55393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功率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KW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5.5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5.5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18.5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22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22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22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650175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系统压力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Mpa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40138"/>
                  </a:ext>
                </a:extLst>
              </a:tr>
              <a:tr h="4612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油箱容积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加油量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120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120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140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175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175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175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284188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系统流量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L/min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11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11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26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36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36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36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780918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风机功率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W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200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200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965569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主阀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力士乐乐卓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力士乐乐卓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力度克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海德罗斯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力度克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海德罗斯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力度克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海德罗斯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力度克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海德罗斯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7198118"/>
                  </a:ext>
                </a:extLst>
              </a:tr>
              <a:tr h="6344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控制阀类型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国产电磁阀组 </a:t>
                      </a:r>
                      <a:b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（力士乐乐卓）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进口电磁阀组</a:t>
                      </a:r>
                      <a:b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</a:b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Rexroth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Atos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进口电磁阀组</a:t>
                      </a:r>
                      <a:b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Rexroth</a:t>
                      </a: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Atos</a:t>
                      </a: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进口电磁阀组</a:t>
                      </a:r>
                      <a:b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</a:b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Rexroth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Atos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进口多路阀（</a:t>
                      </a: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Danfoss)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进口多路阀（</a:t>
                      </a: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Danfoss)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868873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控制方式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开关量控制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开关量控制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开关量控制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比例量控制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比例量控制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比例量控制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6453021"/>
                  </a:ext>
                </a:extLst>
              </a:tr>
              <a:tr h="4801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温控系统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带温控模块、自动启停风冷却器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带温控模块、自动启停风冷却器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带温控模块、自动启停风冷却器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带温控模块、自动启停风冷却器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带温控模块、自动启停风冷却器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带温控模块、自动启停风冷却器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907399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臂架油缸缸径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mm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100-220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575693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臂架油缸杆径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mm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75-130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912234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臂架油缸行程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mm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500-1800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708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520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74A6D-569D-B596-F991-88570D7E6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EF7C4468-9C7A-0A02-A2C6-2B1D83446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4032" y="6523256"/>
            <a:ext cx="5672389" cy="204847"/>
          </a:xfrm>
        </p:spPr>
        <p:txBody>
          <a:bodyPr/>
          <a:lstStyle/>
          <a:p>
            <a:pPr lvl="0"/>
            <a:r>
              <a:rPr lang="zh-CN" altLang="en-US" sz="1200" b="1" dirty="0"/>
              <a:t>由于技术不断更新进步，技术参数及配置与实物差异之处以交机实物为准</a:t>
            </a:r>
            <a:endParaRPr lang="zh-CN" altLang="en-US" sz="1200" b="1" dirty="0">
              <a:latin typeface="+mj-lt"/>
              <a:cs typeface="+mj-lt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9158C13-FDFB-82AD-FD89-279C28E6C5BB}"/>
              </a:ext>
            </a:extLst>
          </p:cNvPr>
          <p:cNvGrpSpPr/>
          <p:nvPr/>
        </p:nvGrpSpPr>
        <p:grpSpPr>
          <a:xfrm>
            <a:off x="0" y="946150"/>
            <a:ext cx="12192635" cy="132080"/>
            <a:chOff x="0" y="3863"/>
            <a:chExt cx="19201" cy="208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C87AD09-DD87-6EC8-CA0C-6E2E58E90B86}"/>
                </a:ext>
              </a:extLst>
            </p:cNvPr>
            <p:cNvSpPr/>
            <p:nvPr/>
          </p:nvSpPr>
          <p:spPr>
            <a:xfrm>
              <a:off x="0" y="3863"/>
              <a:ext cx="981" cy="208"/>
            </a:xfrm>
            <a:prstGeom prst="rect">
              <a:avLst/>
            </a:prstGeom>
            <a:solidFill>
              <a:srgbClr val="E5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A1AB9EB-A336-683C-C32A-E71256474F01}"/>
                </a:ext>
              </a:extLst>
            </p:cNvPr>
            <p:cNvSpPr/>
            <p:nvPr/>
          </p:nvSpPr>
          <p:spPr>
            <a:xfrm>
              <a:off x="1049" y="3864"/>
              <a:ext cx="18152" cy="207"/>
            </a:xfrm>
            <a:prstGeom prst="rect">
              <a:avLst/>
            </a:prstGeom>
            <a:gradFill>
              <a:gsLst>
                <a:gs pos="0">
                  <a:srgbClr val="007BD3"/>
                </a:gs>
                <a:gs pos="30000">
                  <a:srgbClr val="034373">
                    <a:alpha val="8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67095BBC-9AE3-0E63-ED3B-93950EEB3B62}"/>
              </a:ext>
            </a:extLst>
          </p:cNvPr>
          <p:cNvSpPr txBox="1"/>
          <p:nvPr/>
        </p:nvSpPr>
        <p:spPr>
          <a:xfrm>
            <a:off x="335360" y="419984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技术参数表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D567EC0-EAD6-B192-947F-661565B17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432" y="305176"/>
            <a:ext cx="3404950" cy="538390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835F2CF-4A49-D4D2-9A82-BFE435D61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806999"/>
              </p:ext>
            </p:extLst>
          </p:nvPr>
        </p:nvGraphicFramePr>
        <p:xfrm>
          <a:off x="622935" y="1181448"/>
          <a:ext cx="11073448" cy="5256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526">
                  <a:extLst>
                    <a:ext uri="{9D8B030D-6E8A-4147-A177-3AD203B41FA5}">
                      <a16:colId xmlns:a16="http://schemas.microsoft.com/office/drawing/2014/main" val="4225787167"/>
                    </a:ext>
                  </a:extLst>
                </a:gridCol>
                <a:gridCol w="379002">
                  <a:extLst>
                    <a:ext uri="{9D8B030D-6E8A-4147-A177-3AD203B41FA5}">
                      <a16:colId xmlns:a16="http://schemas.microsoft.com/office/drawing/2014/main" val="269089622"/>
                    </a:ext>
                  </a:extLst>
                </a:gridCol>
                <a:gridCol w="1658820">
                  <a:extLst>
                    <a:ext uri="{9D8B030D-6E8A-4147-A177-3AD203B41FA5}">
                      <a16:colId xmlns:a16="http://schemas.microsoft.com/office/drawing/2014/main" val="1704033270"/>
                    </a:ext>
                  </a:extLst>
                </a:gridCol>
                <a:gridCol w="1658820">
                  <a:extLst>
                    <a:ext uri="{9D8B030D-6E8A-4147-A177-3AD203B41FA5}">
                      <a16:colId xmlns:a16="http://schemas.microsoft.com/office/drawing/2014/main" val="4099214724"/>
                    </a:ext>
                  </a:extLst>
                </a:gridCol>
                <a:gridCol w="1658820">
                  <a:extLst>
                    <a:ext uri="{9D8B030D-6E8A-4147-A177-3AD203B41FA5}">
                      <a16:colId xmlns:a16="http://schemas.microsoft.com/office/drawing/2014/main" val="979230445"/>
                    </a:ext>
                  </a:extLst>
                </a:gridCol>
                <a:gridCol w="1658820">
                  <a:extLst>
                    <a:ext uri="{9D8B030D-6E8A-4147-A177-3AD203B41FA5}">
                      <a16:colId xmlns:a16="http://schemas.microsoft.com/office/drawing/2014/main" val="2873602410"/>
                    </a:ext>
                  </a:extLst>
                </a:gridCol>
                <a:gridCol w="1658820">
                  <a:extLst>
                    <a:ext uri="{9D8B030D-6E8A-4147-A177-3AD203B41FA5}">
                      <a16:colId xmlns:a16="http://schemas.microsoft.com/office/drawing/2014/main" val="1199976217"/>
                    </a:ext>
                  </a:extLst>
                </a:gridCol>
                <a:gridCol w="1658820">
                  <a:extLst>
                    <a:ext uri="{9D8B030D-6E8A-4147-A177-3AD203B41FA5}">
                      <a16:colId xmlns:a16="http://schemas.microsoft.com/office/drawing/2014/main" val="654944568"/>
                    </a:ext>
                  </a:extLst>
                </a:gridCol>
              </a:tblGrid>
              <a:tr h="530206">
                <a:tc grid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000" b="1" u="none" strike="noStrike" dirty="0">
                          <a:effectLst/>
                        </a:rPr>
                        <a:t>电控系统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260233"/>
                  </a:ext>
                </a:extLst>
              </a:tr>
              <a:tr h="33490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型号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17/21M-3RM-DK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17/21M-3RH-DK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33M-3RM-DK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33M-4RM-DK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33M-4RH-DK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36M-4RH-DK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913449"/>
                  </a:ext>
                </a:extLst>
              </a:tr>
              <a:tr h="3024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项目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单位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831557"/>
                  </a:ext>
                </a:extLst>
              </a:tr>
              <a:tr h="3024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主回路电压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VAC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三相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380</a:t>
                      </a: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VAC / 50Hz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三相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380</a:t>
                      </a: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VAC / 50Hz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三相</a:t>
                      </a: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380</a:t>
                      </a: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VAC / 50Hz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三相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380</a:t>
                      </a: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VAC / 50Hz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三相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380</a:t>
                      </a: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VAC / 50Hz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三相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380</a:t>
                      </a: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VAC / 50Hz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9675829"/>
                  </a:ext>
                </a:extLst>
              </a:tr>
              <a:tr h="3475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控制回路电压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VAC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单相</a:t>
                      </a: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220</a:t>
                      </a: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VAC &amp; 24VDC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单相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220</a:t>
                      </a: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VAC &amp; 24VDC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单相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220</a:t>
                      </a: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VAC &amp; 24VDC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单相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220</a:t>
                      </a: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VAC &amp; 24VDC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单相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220</a:t>
                      </a: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VAC &amp; 24VDC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单相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220</a:t>
                      </a: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VAC &amp; 24VDC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5946788"/>
                  </a:ext>
                </a:extLst>
              </a:tr>
              <a:tr h="3475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控制模式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面板控制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有线遥控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无线遥控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面板控制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有线遥控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无线遥控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面板控制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有线遥控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无线遥控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面板控制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有线遥控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无线遥控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面板控制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无线遥控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面板控制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无线遥控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905864"/>
                  </a:ext>
                </a:extLst>
              </a:tr>
              <a:tr h="3024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控制方式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VDC/A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继电器控制，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24</a:t>
                      </a: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VDC/8A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继电器控制，</a:t>
                      </a: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24</a:t>
                      </a: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VDC/8A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继电器控制，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24</a:t>
                      </a: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VDC/8A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继电器控制，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24</a:t>
                      </a: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VDC/9A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控制器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触摸屏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控制器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触摸屏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86227"/>
                  </a:ext>
                </a:extLst>
              </a:tr>
              <a:tr h="3024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急停功能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有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有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有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有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有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有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549507"/>
                  </a:ext>
                </a:extLst>
              </a:tr>
              <a:tr h="5812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短路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过载保护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有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有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有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有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有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有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6851055"/>
                  </a:ext>
                </a:extLst>
              </a:tr>
              <a:tr h="3024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元器件品牌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施耐德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霍尼韦尔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施耐德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霍尼韦尔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施耐德</a:t>
                      </a: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霍尼韦尔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施耐德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霍尼韦尔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施耐德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霍尼韦尔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施耐德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霍尼韦尔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97330"/>
                  </a:ext>
                </a:extLst>
              </a:tr>
              <a:tr h="3475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有线遥控品牌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国产优质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国产优质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国产优质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国产优质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096326"/>
                  </a:ext>
                </a:extLst>
              </a:tr>
              <a:tr h="3475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无线遥控品牌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禹鼎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禹鼎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禹鼎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禹鼎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欧姆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欧姆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675233"/>
                  </a:ext>
                </a:extLst>
              </a:tr>
              <a:tr h="3024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整机尺寸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mm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550*750*250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550*750*250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550*750*250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550*750*250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550*750*250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550*750*250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9863250"/>
                  </a:ext>
                </a:extLst>
              </a:tr>
              <a:tr h="3024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整机重量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Kg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50Kg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50Kg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50Kg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50Kg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50Kg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50Kg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358163"/>
                  </a:ext>
                </a:extLst>
              </a:tr>
              <a:tr h="3024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安装方式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壁挂式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壁挂式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壁挂式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壁挂式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壁挂式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壁挂式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81" marR="5181" marT="51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760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8634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BlZjg0YzhhYTBkZjVjYmJjODk4YmY0N2RiM2MwYWUifQ=="/>
  <p:tag name="KSO_WPP_MARK_KEY" val="461c5cbf-150b-4ec3-94f0-3422db1a66a9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30402</TotalTime>
  <Words>851</Words>
  <Application>Microsoft Office PowerPoint</Application>
  <PresentationFormat>宽屏</PresentationFormat>
  <Paragraphs>231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宋体</vt:lpstr>
      <vt:lpstr>微软雅黑</vt:lpstr>
      <vt:lpstr>Arial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Luo</dc:creator>
  <cp:lastModifiedBy>纲 董</cp:lastModifiedBy>
  <cp:revision>147</cp:revision>
  <dcterms:created xsi:type="dcterms:W3CDTF">2022-08-10T04:03:00Z</dcterms:created>
  <dcterms:modified xsi:type="dcterms:W3CDTF">2026-01-08T05:53:00Z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8F8FF25B07B0405DB36A66395F0B9AC3</vt:lpwstr>
  </property>
</Properties>
</file>